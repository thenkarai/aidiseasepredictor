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8800">
                <a:solidFill>
                  <a:srgbClr val="27AE60"/>
                </a:solidFill>
                <a:latin typeface="Impact"/>
              </a:defRPr>
            </a:pPr>
            <a:r>
              <a:t>PHASAL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>
              <a:defRPr sz="2400">
                <a:solidFill>
                  <a:srgbClr val="F0F0F0"/>
                </a:solidFill>
                <a:latin typeface="Segoe UI Semibold"/>
              </a:defRPr>
            </a:pPr>
            <a:r>
              <a:t>AI Plant Disease Recognition System</a:t>
            </a:r>
          </a:p>
          <a:p>
            <a:pPr algn="ctr">
              <a:defRPr sz="2400">
                <a:solidFill>
                  <a:srgbClr val="F0F0F0"/>
                </a:solidFill>
                <a:latin typeface="Segoe UI Semibold"/>
              </a:defRPr>
            </a:pPr>
          </a:p>
          <a:p>
            <a:pPr algn="ctr">
              <a:defRPr sz="2400">
                <a:solidFill>
                  <a:srgbClr val="F0F0F0"/>
                </a:solidFill>
                <a:latin typeface="Segoe UI Semibold"/>
              </a:defRPr>
            </a:pPr>
            <a:r>
              <a:t>Presented by:</a:t>
            </a:r>
          </a:p>
          <a:p>
            <a:pPr algn="ctr">
              <a:defRPr sz="2400">
                <a:solidFill>
                  <a:srgbClr val="F0F0F0"/>
                </a:solidFill>
                <a:latin typeface="Segoe UI Semibold"/>
              </a:defRPr>
            </a:pPr>
            <a:r>
              <a:t>Thenkarai Maharajan M</a:t>
            </a:r>
          </a:p>
          <a:p>
            <a:pPr algn="ctr">
              <a:defRPr sz="2400">
                <a:solidFill>
                  <a:srgbClr val="F0F0F0"/>
                </a:solidFill>
                <a:latin typeface="Segoe UI Semibold"/>
              </a:defRPr>
            </a:pPr>
            <a:r>
              <a:t>MCA Student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>
                <a:solidFill>
                  <a:srgbClr val="27AE60"/>
                </a:solidFill>
                <a:latin typeface="Impact"/>
              </a:defRPr>
            </a:pPr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ext cx="5029200" cy="0"/>
          </a:xfrm>
        </p:spPr>
        <p:txBody>
          <a:bodyPr/>
          <a:lstStyle/>
          <a:p/>
          <a:p>
            <a:pPr>
              <a:spcAft>
                <a:spcPts val="1000"/>
              </a:spcAft>
              <a:defRPr sz="1800">
                <a:solidFill>
                  <a:srgbClr val="F0F0F0"/>
                </a:solidFill>
                <a:latin typeface="Segoe UI"/>
              </a:defRPr>
            </a:pPr>
            <a:r>
              <a:t>  • Revolutionizing Agriculture via AI.</a:t>
            </a:r>
          </a:p>
          <a:p>
            <a:pPr>
              <a:spcAft>
                <a:spcPts val="1000"/>
              </a:spcAft>
              <a:defRPr sz="1800">
                <a:solidFill>
                  <a:srgbClr val="F0F0F0"/>
                </a:solidFill>
                <a:latin typeface="Segoe UI"/>
              </a:defRPr>
            </a:pPr>
            <a:r>
              <a:t>  • Real-time Identification of plant pathologies.</a:t>
            </a:r>
          </a:p>
          <a:p>
            <a:pPr>
              <a:spcAft>
                <a:spcPts val="1000"/>
              </a:spcAft>
              <a:defRPr sz="1800">
                <a:solidFill>
                  <a:srgbClr val="F0F0F0"/>
                </a:solidFill>
                <a:latin typeface="Segoe UI"/>
              </a:defRPr>
            </a:pPr>
            <a:r>
              <a:t>  • Bridging the Gap between technology and farmers.</a:t>
            </a:r>
          </a:p>
          <a:p>
            <a:pPr>
              <a:spcAft>
                <a:spcPts val="1000"/>
              </a:spcAft>
              <a:defRPr sz="1800">
                <a:solidFill>
                  <a:srgbClr val="F0F0F0"/>
                </a:solidFill>
                <a:latin typeface="Segoe UI"/>
              </a:defRPr>
            </a:pPr>
            <a:r>
              <a:t>  • Comprehensive health reports in English and Tamil.</a:t>
            </a:r>
          </a:p>
        </p:txBody>
      </p:sp>
      <p:pic>
        <p:nvPicPr>
          <p:cNvPr id="4" name="Picture 3" descr="crop_backgroun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371600"/>
            <a:ext cx="3200400" cy="200025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457200" y="6492240"/>
            <a:ext cx="8229600" cy="45720"/>
          </a:xfrm>
          <a:prstGeom prst="rect">
            <a:avLst/>
          </a:prstGeom>
          <a:solidFill>
            <a:srgbClr val="27AE6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>
                <a:solidFill>
                  <a:srgbClr val="27AE60"/>
                </a:solidFill>
                <a:latin typeface="Impact"/>
              </a:defRPr>
            </a:pPr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  <a:defRPr sz="1800">
                <a:solidFill>
                  <a:srgbClr val="F0F0F0"/>
                </a:solidFill>
                <a:latin typeface="Segoe UI"/>
              </a:defRPr>
            </a:pPr>
            <a:r>
              <a:t>  • Global crop yield loss (20-40%) due to diseases.</a:t>
            </a:r>
          </a:p>
          <a:p>
            <a:pPr>
              <a:spcAft>
                <a:spcPts val="1000"/>
              </a:spcAft>
              <a:defRPr sz="1800">
                <a:solidFill>
                  <a:srgbClr val="F0F0F0"/>
                </a:solidFill>
                <a:latin typeface="Segoe UI"/>
              </a:defRPr>
            </a:pPr>
            <a:r>
              <a:t>  • Limited access to agriculture experts.</a:t>
            </a:r>
          </a:p>
          <a:p>
            <a:pPr>
              <a:spcAft>
                <a:spcPts val="1000"/>
              </a:spcAft>
              <a:defRPr sz="1800">
                <a:solidFill>
                  <a:srgbClr val="F0F0F0"/>
                </a:solidFill>
                <a:latin typeface="Segoe UI"/>
              </a:defRPr>
            </a:pPr>
            <a:r>
              <a:t>  • Slow manual diagnostics leading to crop failure.</a:t>
            </a:r>
          </a:p>
          <a:p>
            <a:pPr>
              <a:spcAft>
                <a:spcPts val="1000"/>
              </a:spcAft>
              <a:defRPr sz="1800">
                <a:solidFill>
                  <a:srgbClr val="F0F0F0"/>
                </a:solidFill>
                <a:latin typeface="Segoe UI"/>
              </a:defRPr>
            </a:pPr>
            <a:r>
              <a:t>  • Need for localized linguistic support (Tamil).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6492240"/>
            <a:ext cx="8229600" cy="45720"/>
          </a:xfrm>
          <a:prstGeom prst="rect">
            <a:avLst/>
          </a:prstGeom>
          <a:solidFill>
            <a:srgbClr val="27AE6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>
                <a:solidFill>
                  <a:srgbClr val="27AE60"/>
                </a:solidFill>
                <a:latin typeface="Impact"/>
              </a:defRPr>
            </a:pPr>
            <a:r>
              <a:t>Project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  <a:defRPr sz="1800">
                <a:solidFill>
                  <a:srgbClr val="F0F0F0"/>
                </a:solidFill>
                <a:latin typeface="Segoe UI"/>
              </a:defRPr>
            </a:pPr>
            <a:r>
              <a:t>  • Develop a lightweight, high-accuracy AI model.</a:t>
            </a:r>
          </a:p>
          <a:p>
            <a:pPr>
              <a:spcAft>
                <a:spcPts val="1000"/>
              </a:spcAft>
              <a:defRPr sz="1800">
                <a:solidFill>
                  <a:srgbClr val="F0F0F0"/>
                </a:solidFill>
                <a:latin typeface="Segoe UI"/>
              </a:defRPr>
            </a:pPr>
            <a:r>
              <a:t>  • Provide Instant analysis via Web/Camera.</a:t>
            </a:r>
          </a:p>
          <a:p>
            <a:pPr>
              <a:spcAft>
                <a:spcPts val="1000"/>
              </a:spcAft>
              <a:defRPr sz="1800">
                <a:solidFill>
                  <a:srgbClr val="F0F0F0"/>
                </a:solidFill>
                <a:latin typeface="Segoe UI"/>
              </a:defRPr>
            </a:pPr>
            <a:r>
              <a:t>  • Quantify Severity for better decision making.</a:t>
            </a:r>
          </a:p>
          <a:p>
            <a:pPr>
              <a:spcAft>
                <a:spcPts val="1000"/>
              </a:spcAft>
              <a:defRPr sz="1800">
                <a:solidFill>
                  <a:srgbClr val="F0F0F0"/>
                </a:solidFill>
                <a:latin typeface="Segoe UI"/>
              </a:defRPr>
            </a:pPr>
            <a:r>
              <a:t>  • Enable Tamil support for regional accessibility.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6492240"/>
            <a:ext cx="8229600" cy="45720"/>
          </a:xfrm>
          <a:prstGeom prst="rect">
            <a:avLst/>
          </a:prstGeom>
          <a:solidFill>
            <a:srgbClr val="27AE6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>
                <a:solidFill>
                  <a:srgbClr val="27AE60"/>
                </a:solidFill>
                <a:latin typeface="Impact"/>
              </a:defRPr>
            </a:pPr>
            <a:r>
              <a:t>Technology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  <a:defRPr sz="1800">
                <a:solidFill>
                  <a:srgbClr val="F0F0F0"/>
                </a:solidFill>
                <a:latin typeface="Segoe UI"/>
              </a:defRPr>
            </a:pPr>
            <a:r>
              <a:t>  • Backend: Python / Flask Web Server.</a:t>
            </a:r>
          </a:p>
          <a:p>
            <a:pPr>
              <a:spcAft>
                <a:spcPts val="1000"/>
              </a:spcAft>
              <a:defRPr sz="1800">
                <a:solidFill>
                  <a:srgbClr val="F0F0F0"/>
                </a:solidFill>
                <a:latin typeface="Segoe UI"/>
              </a:defRPr>
            </a:pPr>
            <a:r>
              <a:t>  • AI: Google Gemini-2.5-Flash (LLM Vision).</a:t>
            </a:r>
          </a:p>
          <a:p>
            <a:pPr>
              <a:spcAft>
                <a:spcPts val="1000"/>
              </a:spcAft>
              <a:defRPr sz="1800">
                <a:solidFill>
                  <a:srgbClr val="F0F0F0"/>
                </a:solidFill>
                <a:latin typeface="Segoe UI"/>
              </a:defRPr>
            </a:pPr>
            <a:r>
              <a:t>  • Frontend: Modern HTML5 / CSS3 / JavaScript.</a:t>
            </a:r>
          </a:p>
          <a:p>
            <a:pPr>
              <a:spcAft>
                <a:spcPts val="1000"/>
              </a:spcAft>
              <a:defRPr sz="1800">
                <a:solidFill>
                  <a:srgbClr val="F0F0F0"/>
                </a:solidFill>
                <a:latin typeface="Segoe UI"/>
              </a:defRPr>
            </a:pPr>
            <a:r>
              <a:t>  • Processing: PIL (Pillow) &amp; Base64 Logic.</a:t>
            </a:r>
          </a:p>
          <a:p>
            <a:pPr>
              <a:spcAft>
                <a:spcPts val="1000"/>
              </a:spcAft>
              <a:defRPr sz="1800">
                <a:solidFill>
                  <a:srgbClr val="F0F0F0"/>
                </a:solidFill>
                <a:latin typeface="Segoe UI"/>
              </a:defRPr>
            </a:pPr>
            <a:r>
              <a:t>  • UI Theme: Professional Dark Mode &amp; Glassmorphism.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6492240"/>
            <a:ext cx="8229600" cy="45720"/>
          </a:xfrm>
          <a:prstGeom prst="rect">
            <a:avLst/>
          </a:prstGeom>
          <a:solidFill>
            <a:srgbClr val="27AE6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>
                <a:solidFill>
                  <a:srgbClr val="27AE60"/>
                </a:solidFill>
                <a:latin typeface="Impact"/>
              </a:defRPr>
            </a:pPr>
            <a:r>
              <a:t>User Interface &amp;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ext cx="5029200" cy="0"/>
          </a:xfrm>
        </p:spPr>
        <p:txBody>
          <a:bodyPr/>
          <a:lstStyle/>
          <a:p/>
          <a:p>
            <a:pPr>
              <a:spcAft>
                <a:spcPts val="1000"/>
              </a:spcAft>
              <a:defRPr sz="1800">
                <a:solidFill>
                  <a:srgbClr val="F0F0F0"/>
                </a:solidFill>
                <a:latin typeface="Segoe UI"/>
              </a:defRPr>
            </a:pPr>
            <a:r>
              <a:t>  • Clean, intuitive dashboard for farmers.</a:t>
            </a:r>
          </a:p>
          <a:p>
            <a:pPr>
              <a:spcAft>
                <a:spcPts val="1000"/>
              </a:spcAft>
              <a:defRPr sz="1800">
                <a:solidFill>
                  <a:srgbClr val="F0F0F0"/>
                </a:solidFill>
                <a:latin typeface="Segoe UI"/>
              </a:defRPr>
            </a:pPr>
            <a:r>
              <a:t>  • Real-time confidence circular gauges.</a:t>
            </a:r>
          </a:p>
          <a:p>
            <a:pPr>
              <a:spcAft>
                <a:spcPts val="1000"/>
              </a:spcAft>
              <a:defRPr sz="1800">
                <a:solidFill>
                  <a:srgbClr val="F0F0F0"/>
                </a:solidFill>
                <a:latin typeface="Segoe UI"/>
              </a:defRPr>
            </a:pPr>
            <a:r>
              <a:t>  • Interactive disease severity indicators.</a:t>
            </a:r>
          </a:p>
          <a:p>
            <a:pPr>
              <a:spcAft>
                <a:spcPts val="1000"/>
              </a:spcAft>
              <a:defRPr sz="1800">
                <a:solidFill>
                  <a:srgbClr val="F0F0F0"/>
                </a:solidFill>
                <a:latin typeface="Segoe UI"/>
              </a:defRPr>
            </a:pPr>
            <a:r>
              <a:t>  • Localized result cards for quick reading.</a:t>
            </a:r>
          </a:p>
        </p:txBody>
      </p:sp>
      <p:pic>
        <p:nvPicPr>
          <p:cNvPr id="4" name="Picture 3" descr="phasal_ui_mockup_177380118062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371600"/>
            <a:ext cx="3200400" cy="32004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457200" y="6492240"/>
            <a:ext cx="8229600" cy="45720"/>
          </a:xfrm>
          <a:prstGeom prst="rect">
            <a:avLst/>
          </a:prstGeom>
          <a:solidFill>
            <a:srgbClr val="27AE6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>
                <a:solidFill>
                  <a:srgbClr val="27AE60"/>
                </a:solidFill>
                <a:latin typeface="Impact"/>
              </a:defRPr>
            </a:pPr>
            <a:r>
              <a:t>System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  <a:defRPr sz="1800">
                <a:solidFill>
                  <a:srgbClr val="F0F0F0"/>
                </a:solidFill>
                <a:latin typeface="Segoe UI"/>
              </a:defRPr>
            </a:pPr>
            <a:r>
              <a:t>  • 1. Image Capture: User uploads or uses camera.</a:t>
            </a:r>
          </a:p>
          <a:p>
            <a:pPr>
              <a:spcAft>
                <a:spcPts val="1000"/>
              </a:spcAft>
              <a:defRPr sz="1800">
                <a:solidFill>
                  <a:srgbClr val="F0F0F0"/>
                </a:solidFill>
                <a:latin typeface="Segoe UI"/>
              </a:defRPr>
            </a:pPr>
            <a:r>
              <a:t>  • 2. Analysis: Gemini AI processes visual features.</a:t>
            </a:r>
          </a:p>
          <a:p>
            <a:pPr>
              <a:spcAft>
                <a:spcPts val="1000"/>
              </a:spcAft>
              <a:defRPr sz="1800">
                <a:solidFill>
                  <a:srgbClr val="F0F0F0"/>
                </a:solidFill>
                <a:latin typeface="Segoe UI"/>
              </a:defRPr>
            </a:pPr>
            <a:r>
              <a:t>  • 3. Quantification: Severity &amp; Confidence calculated.</a:t>
            </a:r>
          </a:p>
          <a:p>
            <a:pPr>
              <a:spcAft>
                <a:spcPts val="1000"/>
              </a:spcAft>
              <a:defRPr sz="1800">
                <a:solidFill>
                  <a:srgbClr val="F0F0F0"/>
                </a:solidFill>
                <a:latin typeface="Segoe UI"/>
              </a:defRPr>
            </a:pPr>
            <a:r>
              <a:t>  • 4. Reporting: Results displayed with Cause &amp; Cure.</a:t>
            </a:r>
          </a:p>
          <a:p>
            <a:pPr>
              <a:spcAft>
                <a:spcPts val="1000"/>
              </a:spcAft>
              <a:defRPr sz="1800">
                <a:solidFill>
                  <a:srgbClr val="F0F0F0"/>
                </a:solidFill>
                <a:latin typeface="Segoe UI"/>
              </a:defRPr>
            </a:pPr>
            <a:r>
              <a:t>  • 5. Localization: Dynamic translation to Tamil.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6492240"/>
            <a:ext cx="8229600" cy="45720"/>
          </a:xfrm>
          <a:prstGeom prst="rect">
            <a:avLst/>
          </a:prstGeom>
          <a:solidFill>
            <a:srgbClr val="27AE6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>
                <a:solidFill>
                  <a:srgbClr val="27AE60"/>
                </a:solidFill>
                <a:latin typeface="Impact"/>
              </a:defRPr>
            </a:pPr>
            <a:r>
              <a:t>Key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  <a:defRPr sz="1800">
                <a:solidFill>
                  <a:srgbClr val="F0F0F0"/>
                </a:solidFill>
                <a:latin typeface="Segoe UI"/>
              </a:defRPr>
            </a:pPr>
            <a:r>
              <a:t>  • Multi-modal AI: Analyzes images with high precision.</a:t>
            </a:r>
          </a:p>
          <a:p>
            <a:pPr>
              <a:spcAft>
                <a:spcPts val="1000"/>
              </a:spcAft>
              <a:defRPr sz="1800">
                <a:solidFill>
                  <a:srgbClr val="F0F0F0"/>
                </a:solidFill>
                <a:latin typeface="Segoe UI"/>
              </a:defRPr>
            </a:pPr>
            <a:r>
              <a:t>  • Tamil Translation: Zero barrier for local farmers.</a:t>
            </a:r>
          </a:p>
          <a:p>
            <a:pPr>
              <a:spcAft>
                <a:spcPts val="1000"/>
              </a:spcAft>
              <a:defRPr sz="1800">
                <a:solidFill>
                  <a:srgbClr val="F0F0F0"/>
                </a:solidFill>
                <a:latin typeface="Segoe UI"/>
              </a:defRPr>
            </a:pPr>
            <a:r>
              <a:t>  • Severity Analysis: Precise leaf area impact data.</a:t>
            </a:r>
          </a:p>
          <a:p>
            <a:pPr>
              <a:spcAft>
                <a:spcPts val="1000"/>
              </a:spcAft>
              <a:defRPr sz="1800">
                <a:solidFill>
                  <a:srgbClr val="F0F0F0"/>
                </a:solidFill>
                <a:latin typeface="Segoe UI"/>
              </a:defRPr>
            </a:pPr>
            <a:r>
              <a:t>  • Cross-platform: Works on mobile and desktop.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6492240"/>
            <a:ext cx="8229600" cy="45720"/>
          </a:xfrm>
          <a:prstGeom prst="rect">
            <a:avLst/>
          </a:prstGeom>
          <a:solidFill>
            <a:srgbClr val="27AE6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>
                <a:solidFill>
                  <a:srgbClr val="27AE60"/>
                </a:solidFill>
                <a:latin typeface="Impact"/>
              </a:defRPr>
            </a:pPr>
            <a:r>
              <a:t>Conclusion &amp; Future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  <a:defRPr sz="1800">
                <a:solidFill>
                  <a:srgbClr val="F0F0F0"/>
                </a:solidFill>
                <a:latin typeface="Segoe UI"/>
              </a:defRPr>
            </a:pPr>
            <a:r>
              <a:t>  • Integration with IoT Soil Sensors.</a:t>
            </a:r>
          </a:p>
          <a:p>
            <a:pPr>
              <a:spcAft>
                <a:spcPts val="1000"/>
              </a:spcAft>
              <a:defRPr sz="1800">
                <a:solidFill>
                  <a:srgbClr val="F0F0F0"/>
                </a:solidFill>
                <a:latin typeface="Segoe UI"/>
              </a:defRPr>
            </a:pPr>
            <a:r>
              <a:t>  • Development of Dedicated Mobile Apps.</a:t>
            </a:r>
          </a:p>
          <a:p>
            <a:pPr>
              <a:spcAft>
                <a:spcPts val="1000"/>
              </a:spcAft>
              <a:defRPr sz="1800">
                <a:solidFill>
                  <a:srgbClr val="F0F0F0"/>
                </a:solidFill>
                <a:latin typeface="Segoe UI"/>
              </a:defRPr>
            </a:pPr>
            <a:r>
              <a:t>  • Offline Database for remote rural areas.</a:t>
            </a:r>
          </a:p>
          <a:p>
            <a:pPr>
              <a:spcAft>
                <a:spcPts val="1000"/>
              </a:spcAft>
              <a:defRPr sz="1800">
                <a:solidFill>
                  <a:srgbClr val="F0F0F0"/>
                </a:solidFill>
                <a:latin typeface="Segoe UI"/>
              </a:defRPr>
            </a:pPr>
            <a:r>
              <a:t>  • Blockchain for secure crop data tracking.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6492240"/>
            <a:ext cx="8229600" cy="45720"/>
          </a:xfrm>
          <a:prstGeom prst="rect">
            <a:avLst/>
          </a:prstGeom>
          <a:solidFill>
            <a:srgbClr val="27AE6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8000">
                <a:solidFill>
                  <a:srgbClr val="27AE60"/>
                </a:solidFill>
                <a:latin typeface="Impact"/>
              </a:defRPr>
            </a:pPr>
            <a:r>
              <a:t>Thank You!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000">
                <a:solidFill>
                  <a:srgbClr val="F0F0F0"/>
                </a:solidFill>
                <a:latin typeface="Segoe UI"/>
              </a:defRPr>
            </a:pPr>
            <a:r>
              <a:t>Questions &amp; Feedback</a:t>
            </a:r>
          </a:p>
          <a:p>
            <a:pPr>
              <a:defRPr sz="2000">
                <a:solidFill>
                  <a:srgbClr val="F0F0F0"/>
                </a:solidFill>
                <a:latin typeface="Segoe UI"/>
              </a:defRPr>
            </a:pPr>
          </a:p>
          <a:p>
            <a:pPr>
              <a:defRPr sz="2000">
                <a:solidFill>
                  <a:srgbClr val="F0F0F0"/>
                </a:solidFill>
                <a:latin typeface="Segoe UI"/>
              </a:defRPr>
            </a:pPr>
            <a:r>
              <a:t>Thenkarai Maharajan M</a:t>
            </a:r>
          </a:p>
          <a:p>
            <a:pPr>
              <a:defRPr sz="2000">
                <a:solidFill>
                  <a:srgbClr val="F0F0F0"/>
                </a:solidFill>
                <a:latin typeface="Segoe UI"/>
              </a:defRPr>
            </a:pPr>
            <a:r>
              <a:t>MCA Student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